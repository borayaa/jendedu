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9E02581-53BE-43A7-B2AE-B59D87441AB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32D68C-F1D1-4E2B-B2DE-B5B55E8E9C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F9739E-166B-43DD-A609-0EC4757959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C02A56-1C2F-4257-BBD6-159FE13801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DF1A3D-3A9A-4308-AA65-2DF5CE9BC0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282D30-4B40-43BB-9AAB-A69E07C97E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57B4CC-71A3-465E-89C2-E7F2A626DD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85C246-3627-448D-BFEC-E6A50B8D33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001B1B-69BA-4D47-B147-B416F8CB3C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DB561C-B7F3-4421-A585-6AB67A5E1D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Text 0"/>
          <p:cNvSpPr/>
          <p:nvPr/>
        </p:nvSpPr>
        <p:spPr>
          <a:xfrm>
            <a:off x="457200" y="48279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</a:rPr>
              <a:t>JendEdu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ELAP">
    <p:bg>
      <p:bgPr>
        <a:solidFill>
          <a:srgbClr val="0F7F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17.png"/><Relationship Id="rId10" Type="http://schemas.openxmlformats.org/officeDocument/2006/relationships/image" Target="../media/image35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3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image" Target="../media/image17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image" Target="../media/image2.png"/><Relationship Id="rId3" Type="http://schemas.openxmlformats.org/officeDocument/2006/relationships/image" Target="../media/image40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/home/boraya/01.Personal/02.Boraya/05.Code/JendEdu/img/slides/1.jpg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0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rgbClr val="0F7F6A">
              <a:alpha val="45000"/>
            </a:srgbClr>
          </a:solidFill>
          <a:ln w="12700">
            <a:solidFill>
              <a:srgbClr val="0F7F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457200" y="457200"/>
            <a:ext cx="1737000" cy="65808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Image 1" descr="/home/boraya/01.Personal/02.Boraya/05.Code/JendEdu/img/logo.png"/>
          <p:cNvPicPr/>
          <p:nvPr/>
        </p:nvPicPr>
        <p:blipFill>
          <a:blip r:embed="rId2"/>
          <a:stretch/>
        </p:blipFill>
        <p:spPr>
          <a:xfrm>
            <a:off x="640080" y="567000"/>
            <a:ext cx="137124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Text 2"/>
          <p:cNvSpPr/>
          <p:nvPr/>
        </p:nvSpPr>
        <p:spPr>
          <a:xfrm>
            <a:off x="457200" y="1417320"/>
            <a:ext cx="4205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JendEdu</a:t>
            </a:r>
            <a:endParaRPr lang="en-US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457200" y="25603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Website Kursus Online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457200" y="292608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FF3EA"/>
                </a:solidFill>
                <a:effectLst/>
                <a:uFillTx/>
                <a:latin typeface="Calibri"/>
                <a:ea typeface="Calibri"/>
              </a:rPr>
              <a:t>SD • SMP • SMA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457200" y="3520440"/>
            <a:ext cx="731160" cy="310680"/>
          </a:xfrm>
          <a:prstGeom prst="roundRect">
            <a:avLst>
              <a:gd name="adj" fmla="val 41176"/>
            </a:avLst>
          </a:prstGeom>
          <a:solidFill>
            <a:srgbClr val="61B331"/>
          </a:solidFill>
          <a:ln w="12700">
            <a:solidFill>
              <a:srgbClr val="61B3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457200" y="3520440"/>
            <a:ext cx="731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1280160" y="3520440"/>
            <a:ext cx="731160" cy="310680"/>
          </a:xfrm>
          <a:prstGeom prst="roundRect">
            <a:avLst>
              <a:gd name="adj" fmla="val 41176"/>
            </a:avLst>
          </a:prstGeom>
          <a:solidFill>
            <a:srgbClr val="2FA4E7"/>
          </a:solidFill>
          <a:ln w="12700">
            <a:solidFill>
              <a:srgbClr val="2FA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1280160" y="3520440"/>
            <a:ext cx="731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SMP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9"/>
          <p:cNvSpPr/>
          <p:nvPr/>
        </p:nvSpPr>
        <p:spPr>
          <a:xfrm>
            <a:off x="2103120" y="3520440"/>
            <a:ext cx="731160" cy="310680"/>
          </a:xfrm>
          <a:prstGeom prst="roundRect">
            <a:avLst>
              <a:gd name="adj" fmla="val 41176"/>
            </a:avLst>
          </a:prstGeom>
          <a:solidFill>
            <a:srgbClr val="E9573F"/>
          </a:solidFill>
          <a:ln w="12700">
            <a:solidFill>
              <a:srgbClr val="E95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2103120" y="3520440"/>
            <a:ext cx="731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457200" y="429768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</a:pPr>
            <a:endParaRPr lang="en-US" sz="3000" b="1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7F6A"/>
                </a:solidFill>
                <a:effectLst/>
                <a:uFillTx/>
                <a:latin typeface="Calibri"/>
                <a:ea typeface="Calibri"/>
              </a:rPr>
              <a:t>Anggota Tim &amp; Peran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Kartu Coder 1"/>
          <p:cNvSpPr/>
          <p:nvPr/>
        </p:nvSpPr>
        <p:spPr>
          <a:xfrm>
            <a:off x="457200" y="1097280"/>
            <a:ext cx="1919880" cy="3611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1005840" y="1280160"/>
            <a:ext cx="822600" cy="82260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0" descr="preencoded.png"/>
          <p:cNvPicPr/>
          <p:nvPr/>
        </p:nvPicPr>
        <p:blipFill>
          <a:blip r:embed="rId1"/>
          <a:stretch/>
        </p:blipFill>
        <p:spPr>
          <a:xfrm>
            <a:off x="1234440" y="14814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3"/>
          <p:cNvSpPr/>
          <p:nvPr/>
        </p:nvSpPr>
        <p:spPr>
          <a:xfrm>
            <a:off x="457200" y="21945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Muhamad Faiz Ghifari H1H026051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457200" y="246888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@</a:t>
            </a: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IkryIznySo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731520" y="2788920"/>
            <a:ext cx="1371240" cy="292320"/>
          </a:xfrm>
          <a:prstGeom prst="roundRect">
            <a:avLst>
              <a:gd name="adj" fmla="val 43750"/>
            </a:avLst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731520" y="27889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Coder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7"/>
          <p:cNvSpPr/>
          <p:nvPr/>
        </p:nvSpPr>
        <p:spPr>
          <a:xfrm>
            <a:off x="548640" y="32004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548640" y="32004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Beranda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9"/>
          <p:cNvSpPr/>
          <p:nvPr/>
        </p:nvSpPr>
        <p:spPr>
          <a:xfrm>
            <a:off x="1463040" y="32004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1463040" y="32004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Tentang Kami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1"/>
          <p:cNvSpPr/>
          <p:nvPr/>
        </p:nvSpPr>
        <p:spPr>
          <a:xfrm>
            <a:off x="548640" y="36576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548640" y="36576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Kursus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3"/>
          <p:cNvSpPr/>
          <p:nvPr/>
        </p:nvSpPr>
        <p:spPr>
          <a:xfrm>
            <a:off x="1463040" y="36576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1463040" y="36576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Galeri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5"/>
          <p:cNvSpPr/>
          <p:nvPr/>
        </p:nvSpPr>
        <p:spPr>
          <a:xfrm>
            <a:off x="548640" y="41148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548640" y="41148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Harga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Kartu Coder 2"/>
          <p:cNvSpPr/>
          <p:nvPr/>
        </p:nvSpPr>
        <p:spPr>
          <a:xfrm>
            <a:off x="2560320" y="1097280"/>
            <a:ext cx="1919880" cy="3611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8"/>
          <p:cNvSpPr/>
          <p:nvPr/>
        </p:nvSpPr>
        <p:spPr>
          <a:xfrm>
            <a:off x="3108960" y="1280160"/>
            <a:ext cx="822600" cy="82260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1" descr="preencoded.png"/>
          <p:cNvPicPr/>
          <p:nvPr/>
        </p:nvPicPr>
        <p:blipFill>
          <a:blip r:embed="rId2"/>
          <a:stretch/>
        </p:blipFill>
        <p:spPr>
          <a:xfrm>
            <a:off x="3337560" y="14814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19"/>
          <p:cNvSpPr/>
          <p:nvPr/>
        </p:nvSpPr>
        <p:spPr>
          <a:xfrm>
            <a:off x="2560320" y="21945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Cahaya Mata </a:t>
            </a: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Bumi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H1H026037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2560320" y="246888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@Borayaa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1"/>
          <p:cNvSpPr/>
          <p:nvPr/>
        </p:nvSpPr>
        <p:spPr>
          <a:xfrm>
            <a:off x="2834640" y="2788920"/>
            <a:ext cx="1371240" cy="292320"/>
          </a:xfrm>
          <a:prstGeom prst="roundRect">
            <a:avLst>
              <a:gd name="adj" fmla="val 43750"/>
            </a:avLst>
          </a:prstGeom>
          <a:solidFill>
            <a:srgbClr val="2FA4E7"/>
          </a:solidFill>
          <a:ln w="12700">
            <a:solidFill>
              <a:srgbClr val="2FA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2"/>
          <p:cNvSpPr/>
          <p:nvPr/>
        </p:nvSpPr>
        <p:spPr>
          <a:xfrm>
            <a:off x="2834640" y="27889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Coder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3"/>
          <p:cNvSpPr/>
          <p:nvPr/>
        </p:nvSpPr>
        <p:spPr>
          <a:xfrm>
            <a:off x="2651760" y="32004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4"/>
          <p:cNvSpPr/>
          <p:nvPr/>
        </p:nvSpPr>
        <p:spPr>
          <a:xfrm>
            <a:off x="2651760" y="32004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Navbar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5"/>
          <p:cNvSpPr/>
          <p:nvPr/>
        </p:nvSpPr>
        <p:spPr>
          <a:xfrm>
            <a:off x="3566160" y="32004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6"/>
          <p:cNvSpPr/>
          <p:nvPr/>
        </p:nvSpPr>
        <p:spPr>
          <a:xfrm>
            <a:off x="3566160" y="32004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Footer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7"/>
          <p:cNvSpPr/>
          <p:nvPr/>
        </p:nvSpPr>
        <p:spPr>
          <a:xfrm>
            <a:off x="2651760" y="36576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8"/>
          <p:cNvSpPr/>
          <p:nvPr/>
        </p:nvSpPr>
        <p:spPr>
          <a:xfrm>
            <a:off x="2651760" y="36576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Kontak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9"/>
          <p:cNvSpPr/>
          <p:nvPr/>
        </p:nvSpPr>
        <p:spPr>
          <a:xfrm>
            <a:off x="3566160" y="36576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0"/>
          <p:cNvSpPr/>
          <p:nvPr/>
        </p:nvSpPr>
        <p:spPr>
          <a:xfrm>
            <a:off x="3566160" y="36576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Artikel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1"/>
          <p:cNvSpPr/>
          <p:nvPr/>
        </p:nvSpPr>
        <p:spPr>
          <a:xfrm>
            <a:off x="2651760" y="41148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2"/>
          <p:cNvSpPr/>
          <p:nvPr/>
        </p:nvSpPr>
        <p:spPr>
          <a:xfrm>
            <a:off x="2651760" y="41148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Berita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Kartu Reviewer"/>
          <p:cNvSpPr/>
          <p:nvPr/>
        </p:nvSpPr>
        <p:spPr>
          <a:xfrm>
            <a:off x="4663440" y="1097280"/>
            <a:ext cx="1919880" cy="3611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4"/>
          <p:cNvSpPr/>
          <p:nvPr/>
        </p:nvSpPr>
        <p:spPr>
          <a:xfrm>
            <a:off x="5212080" y="1280160"/>
            <a:ext cx="822600" cy="822600"/>
          </a:xfrm>
          <a:prstGeom prst="ellipse">
            <a:avLst/>
          </a:prstGeom>
          <a:solidFill>
            <a:srgbClr val="D867B2"/>
          </a:solidFill>
          <a:ln w="12700">
            <a:solidFill>
              <a:srgbClr val="D867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2" descr="preencoded.png"/>
          <p:cNvPicPr/>
          <p:nvPr/>
        </p:nvPicPr>
        <p:blipFill>
          <a:blip r:embed="rId3"/>
          <a:stretch/>
        </p:blipFill>
        <p:spPr>
          <a:xfrm>
            <a:off x="5440680" y="14814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35"/>
          <p:cNvSpPr/>
          <p:nvPr/>
        </p:nvSpPr>
        <p:spPr>
          <a:xfrm>
            <a:off x="4663440" y="21945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Vercellio Ellyson Darren H1H026047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6"/>
          <p:cNvSpPr/>
          <p:nvPr/>
        </p:nvSpPr>
        <p:spPr>
          <a:xfrm>
            <a:off x="4663440" y="246888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@</a:t>
            </a: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DarrenSangPelajar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7"/>
          <p:cNvSpPr/>
          <p:nvPr/>
        </p:nvSpPr>
        <p:spPr>
          <a:xfrm>
            <a:off x="4937760" y="2788920"/>
            <a:ext cx="1371240" cy="292320"/>
          </a:xfrm>
          <a:prstGeom prst="roundRect">
            <a:avLst>
              <a:gd name="adj" fmla="val 43750"/>
            </a:avLst>
          </a:prstGeom>
          <a:solidFill>
            <a:srgbClr val="D867B2"/>
          </a:solidFill>
          <a:ln w="12700">
            <a:solidFill>
              <a:srgbClr val="D867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8"/>
          <p:cNvSpPr/>
          <p:nvPr/>
        </p:nvSpPr>
        <p:spPr>
          <a:xfrm>
            <a:off x="4937760" y="27889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Reviewer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9"/>
          <p:cNvSpPr/>
          <p:nvPr/>
        </p:nvSpPr>
        <p:spPr>
          <a:xfrm>
            <a:off x="4754880" y="32004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0"/>
          <p:cNvSpPr/>
          <p:nvPr/>
        </p:nvSpPr>
        <p:spPr>
          <a:xfrm>
            <a:off x="4754880" y="32004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Periksa PR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41"/>
          <p:cNvSpPr/>
          <p:nvPr/>
        </p:nvSpPr>
        <p:spPr>
          <a:xfrm>
            <a:off x="5669280" y="32004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2"/>
          <p:cNvSpPr/>
          <p:nvPr/>
        </p:nvSpPr>
        <p:spPr>
          <a:xfrm>
            <a:off x="5669280" y="32004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Beri komentar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3"/>
          <p:cNvSpPr/>
          <p:nvPr/>
        </p:nvSpPr>
        <p:spPr>
          <a:xfrm>
            <a:off x="4754880" y="36576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4"/>
          <p:cNvSpPr/>
          <p:nvPr/>
        </p:nvSpPr>
        <p:spPr>
          <a:xfrm>
            <a:off x="4754880" y="36576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Approve PR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Kartu Dokumentator"/>
          <p:cNvSpPr/>
          <p:nvPr/>
        </p:nvSpPr>
        <p:spPr>
          <a:xfrm>
            <a:off x="6766560" y="1097280"/>
            <a:ext cx="1919880" cy="3611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46"/>
          <p:cNvSpPr/>
          <p:nvPr/>
        </p:nvSpPr>
        <p:spPr>
          <a:xfrm>
            <a:off x="7315200" y="1280160"/>
            <a:ext cx="822600" cy="822600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3" descr="preencoded.png"/>
          <p:cNvPicPr/>
          <p:nvPr/>
        </p:nvPicPr>
        <p:blipFill>
          <a:blip r:embed="rId4"/>
          <a:stretch/>
        </p:blipFill>
        <p:spPr>
          <a:xfrm>
            <a:off x="7543800" y="14814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47"/>
          <p:cNvSpPr/>
          <p:nvPr/>
        </p:nvSpPr>
        <p:spPr>
          <a:xfrm>
            <a:off x="6766560" y="21945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[Nama Anggota 4]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8"/>
          <p:cNvSpPr/>
          <p:nvPr/>
        </p:nvSpPr>
        <p:spPr>
          <a:xfrm>
            <a:off x="6766560" y="246888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@username-4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49"/>
          <p:cNvSpPr/>
          <p:nvPr/>
        </p:nvSpPr>
        <p:spPr>
          <a:xfrm>
            <a:off x="7040880" y="2788920"/>
            <a:ext cx="1371240" cy="292320"/>
          </a:xfrm>
          <a:prstGeom prst="roundRect">
            <a:avLst>
              <a:gd name="adj" fmla="val 43750"/>
            </a:avLst>
          </a:prstGeom>
          <a:solidFill>
            <a:srgbClr val="E9573F"/>
          </a:solidFill>
          <a:ln w="12700">
            <a:solidFill>
              <a:srgbClr val="E95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0"/>
          <p:cNvSpPr/>
          <p:nvPr/>
        </p:nvSpPr>
        <p:spPr>
          <a:xfrm>
            <a:off x="7040880" y="27889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Dokumentator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51"/>
          <p:cNvSpPr/>
          <p:nvPr/>
        </p:nvSpPr>
        <p:spPr>
          <a:xfrm>
            <a:off x="6858000" y="32004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2"/>
          <p:cNvSpPr/>
          <p:nvPr/>
        </p:nvSpPr>
        <p:spPr>
          <a:xfrm>
            <a:off x="6858000" y="32004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README.md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53"/>
          <p:cNvSpPr/>
          <p:nvPr/>
        </p:nvSpPr>
        <p:spPr>
          <a:xfrm>
            <a:off x="7772400" y="3200400"/>
            <a:ext cx="840960" cy="36540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4"/>
          <p:cNvSpPr/>
          <p:nvPr/>
        </p:nvSpPr>
        <p:spPr>
          <a:xfrm>
            <a:off x="7772400" y="320040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PPTX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</a:pPr>
            <a:endParaRPr lang="en-US" sz="3000" b="1" u="none" strike="noStrike">
              <a:solidFill>
                <a:srgbClr val="0F7F6A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7F6A"/>
                </a:solidFill>
                <a:effectLst/>
                <a:uFillTx/>
                <a:latin typeface="Calibri"/>
                <a:ea typeface="Calibri"/>
              </a:rPr>
              <a:t>Project Overview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Masalah"/>
          <p:cNvSpPr/>
          <p:nvPr/>
        </p:nvSpPr>
        <p:spPr>
          <a:xfrm>
            <a:off x="457200" y="1097280"/>
            <a:ext cx="3565800" cy="1234080"/>
          </a:xfrm>
          <a:prstGeom prst="roundRect">
            <a:avLst>
              <a:gd name="adj" fmla="val 8889"/>
            </a:avLst>
          </a:prstGeom>
          <a:solidFill>
            <a:srgbClr val="FDEBE8"/>
          </a:solidFill>
          <a:ln w="12700">
            <a:solidFill>
              <a:srgbClr val="FDEB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640080" y="1325880"/>
            <a:ext cx="731160" cy="731160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0" descr="preencoded.png"/>
          <p:cNvPicPr/>
          <p:nvPr/>
        </p:nvPicPr>
        <p:blipFill>
          <a:blip r:embed="rId1"/>
          <a:stretch/>
        </p:blipFill>
        <p:spPr>
          <a:xfrm>
            <a:off x="822960" y="15087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3"/>
          <p:cNvSpPr/>
          <p:nvPr/>
        </p:nvSpPr>
        <p:spPr>
          <a:xfrm>
            <a:off x="1508760" y="12344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573F"/>
                </a:solidFill>
                <a:effectLst/>
                <a:uFillTx/>
                <a:latin typeface="Calibri"/>
                <a:ea typeface="Calibri"/>
              </a:rPr>
              <a:t>Masalah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508760" y="150876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Belajar sulit diakses &amp; mahal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4114800" y="1709640"/>
            <a:ext cx="914400" cy="360"/>
          </a:xfrm>
          <a:prstGeom prst="line">
            <a:avLst/>
          </a:prstGeom>
          <a:ln w="31750">
            <a:solidFill>
              <a:srgbClr val="14A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olusi"/>
          <p:cNvSpPr/>
          <p:nvPr/>
        </p:nvSpPr>
        <p:spPr>
          <a:xfrm>
            <a:off x="5120640" y="1097280"/>
            <a:ext cx="3565800" cy="1234080"/>
          </a:xfrm>
          <a:prstGeom prst="roundRect">
            <a:avLst>
              <a:gd name="adj" fmla="val 8889"/>
            </a:avLst>
          </a:prstGeom>
          <a:solidFill>
            <a:srgbClr val="E3F5F1"/>
          </a:solidFill>
          <a:ln w="12700">
            <a:solidFill>
              <a:srgbClr val="E3F5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5303520" y="1325880"/>
            <a:ext cx="731160" cy="73116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1" descr="preencoded.png"/>
          <p:cNvPicPr/>
          <p:nvPr/>
        </p:nvPicPr>
        <p:blipFill>
          <a:blip r:embed="rId2"/>
          <a:stretch/>
        </p:blipFill>
        <p:spPr>
          <a:xfrm>
            <a:off x="5486400" y="15087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8"/>
          <p:cNvSpPr/>
          <p:nvPr/>
        </p:nvSpPr>
        <p:spPr>
          <a:xfrm>
            <a:off x="6172200" y="12344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A085"/>
                </a:solidFill>
                <a:effectLst/>
                <a:uFillTx/>
                <a:latin typeface="Calibri"/>
                <a:ea typeface="Calibri"/>
              </a:rPr>
              <a:t>Solusi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6172200" y="150876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Kursus online SD, SMP, SMA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Jenjang SD"/>
          <p:cNvSpPr/>
          <p:nvPr/>
        </p:nvSpPr>
        <p:spPr>
          <a:xfrm>
            <a:off x="457200" y="2606040"/>
            <a:ext cx="2559960" cy="86832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1"/>
          <p:cNvSpPr/>
          <p:nvPr/>
        </p:nvSpPr>
        <p:spPr>
          <a:xfrm>
            <a:off x="640080" y="2743200"/>
            <a:ext cx="594000" cy="594000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2" descr="preencoded.png"/>
          <p:cNvPicPr/>
          <p:nvPr/>
        </p:nvPicPr>
        <p:blipFill>
          <a:blip r:embed="rId3"/>
          <a:stretch/>
        </p:blipFill>
        <p:spPr>
          <a:xfrm>
            <a:off x="788760" y="289188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12"/>
          <p:cNvSpPr/>
          <p:nvPr/>
        </p:nvSpPr>
        <p:spPr>
          <a:xfrm>
            <a:off x="1417320" y="2697480"/>
            <a:ext cx="1462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61B331"/>
                </a:solidFill>
                <a:effectLst/>
                <a:uFillTx/>
                <a:latin typeface="Calibri"/>
                <a:ea typeface="Calibri"/>
              </a:rPr>
              <a:t>SD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Jenjang SMP"/>
          <p:cNvSpPr/>
          <p:nvPr/>
        </p:nvSpPr>
        <p:spPr>
          <a:xfrm>
            <a:off x="3291840" y="2606040"/>
            <a:ext cx="2559960" cy="86832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4"/>
          <p:cNvSpPr/>
          <p:nvPr/>
        </p:nvSpPr>
        <p:spPr>
          <a:xfrm>
            <a:off x="3474720" y="2743200"/>
            <a:ext cx="594000" cy="59400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3" descr="preencoded.png"/>
          <p:cNvPicPr/>
          <p:nvPr/>
        </p:nvPicPr>
        <p:blipFill>
          <a:blip r:embed="rId4"/>
          <a:stretch/>
        </p:blipFill>
        <p:spPr>
          <a:xfrm>
            <a:off x="3623400" y="289188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15"/>
          <p:cNvSpPr/>
          <p:nvPr/>
        </p:nvSpPr>
        <p:spPr>
          <a:xfrm>
            <a:off x="4251960" y="2697480"/>
            <a:ext cx="1462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FA4E7"/>
                </a:solidFill>
                <a:effectLst/>
                <a:uFillTx/>
                <a:latin typeface="Calibri"/>
                <a:ea typeface="Calibri"/>
              </a:rPr>
              <a:t>SMP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Jenjang SMA"/>
          <p:cNvSpPr/>
          <p:nvPr/>
        </p:nvSpPr>
        <p:spPr>
          <a:xfrm>
            <a:off x="6126480" y="2606040"/>
            <a:ext cx="2559960" cy="86832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7"/>
          <p:cNvSpPr/>
          <p:nvPr/>
        </p:nvSpPr>
        <p:spPr>
          <a:xfrm>
            <a:off x="6309360" y="2743200"/>
            <a:ext cx="594000" cy="594000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 4" descr="preencoded.png"/>
          <p:cNvPicPr/>
          <p:nvPr/>
        </p:nvPicPr>
        <p:blipFill>
          <a:blip r:embed="rId5"/>
          <a:stretch/>
        </p:blipFill>
        <p:spPr>
          <a:xfrm>
            <a:off x="6458040" y="289188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18"/>
          <p:cNvSpPr/>
          <p:nvPr/>
        </p:nvSpPr>
        <p:spPr>
          <a:xfrm>
            <a:off x="7086600" y="2697480"/>
            <a:ext cx="1462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9573F"/>
                </a:solidFill>
                <a:effectLst/>
                <a:uFillTx/>
                <a:latin typeface="Calibri"/>
                <a:ea typeface="Calibri"/>
              </a:rPr>
              <a:t>SMA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Angka Halaman utama"/>
          <p:cNvSpPr/>
          <p:nvPr/>
        </p:nvSpPr>
        <p:spPr>
          <a:xfrm>
            <a:off x="457200" y="3703320"/>
            <a:ext cx="2559960" cy="1005480"/>
          </a:xfrm>
          <a:prstGeom prst="roundRect">
            <a:avLst>
              <a:gd name="adj" fmla="val 10909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0"/>
          <p:cNvSpPr/>
          <p:nvPr/>
        </p:nvSpPr>
        <p:spPr>
          <a:xfrm>
            <a:off x="594360" y="37490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14A085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1"/>
          <p:cNvSpPr/>
          <p:nvPr/>
        </p:nvSpPr>
        <p:spPr>
          <a:xfrm>
            <a:off x="1554480" y="3749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Halaman utama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Angka Berita &amp; artikel"/>
          <p:cNvSpPr/>
          <p:nvPr/>
        </p:nvSpPr>
        <p:spPr>
          <a:xfrm>
            <a:off x="3291840" y="3703320"/>
            <a:ext cx="2559960" cy="1005480"/>
          </a:xfrm>
          <a:prstGeom prst="roundRect">
            <a:avLst>
              <a:gd name="adj" fmla="val 10909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3"/>
          <p:cNvSpPr/>
          <p:nvPr/>
        </p:nvSpPr>
        <p:spPr>
          <a:xfrm>
            <a:off x="3429000" y="37490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2FA4E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4"/>
          <p:cNvSpPr/>
          <p:nvPr/>
        </p:nvSpPr>
        <p:spPr>
          <a:xfrm>
            <a:off x="4389120" y="3749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Berita &amp; artikel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Angka Paket harga"/>
          <p:cNvSpPr/>
          <p:nvPr/>
        </p:nvSpPr>
        <p:spPr>
          <a:xfrm>
            <a:off x="6126480" y="3703320"/>
            <a:ext cx="2559960" cy="1005480"/>
          </a:xfrm>
          <a:prstGeom prst="roundRect">
            <a:avLst>
              <a:gd name="adj" fmla="val 10909"/>
            </a:avLst>
          </a:prstGeom>
          <a:solidFill>
            <a:srgbClr val="EFEFEF"/>
          </a:solidFill>
          <a:ln w="1270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6"/>
          <p:cNvSpPr/>
          <p:nvPr/>
        </p:nvSpPr>
        <p:spPr>
          <a:xfrm>
            <a:off x="6263640" y="37490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D867B2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7"/>
          <p:cNvSpPr/>
          <p:nvPr/>
        </p:nvSpPr>
        <p:spPr>
          <a:xfrm>
            <a:off x="7223760" y="3749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Paket harga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</a:pPr>
            <a:endParaRPr lang="en-US" sz="3000" b="1" u="none" strike="noStrike">
              <a:solidFill>
                <a:srgbClr val="0F7F6A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7F6A"/>
                </a:solidFill>
                <a:effectLst/>
                <a:uFillTx/>
                <a:latin typeface="Calibri"/>
                <a:ea typeface="Calibri"/>
              </a:rPr>
              <a:t>Fitur &amp; Halaman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Halaman Beranda"/>
          <p:cNvSpPr/>
          <p:nvPr/>
        </p:nvSpPr>
        <p:spPr>
          <a:xfrm>
            <a:off x="457200" y="1097280"/>
            <a:ext cx="237708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594360" y="1243440"/>
            <a:ext cx="511560" cy="51156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0" descr="preencoded.png"/>
          <p:cNvPicPr/>
          <p:nvPr/>
        </p:nvPicPr>
        <p:blipFill>
          <a:blip r:embed="rId1"/>
          <a:stretch/>
        </p:blipFill>
        <p:spPr>
          <a:xfrm>
            <a:off x="722520" y="13716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3"/>
          <p:cNvSpPr/>
          <p:nvPr/>
        </p:nvSpPr>
        <p:spPr>
          <a:xfrm>
            <a:off x="1234440" y="118872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Beranda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1234440" y="149976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Slider &amp; kursus unggulan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Halaman Tentang Kami"/>
          <p:cNvSpPr/>
          <p:nvPr/>
        </p:nvSpPr>
        <p:spPr>
          <a:xfrm>
            <a:off x="2971800" y="1097280"/>
            <a:ext cx="237708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3108960" y="1243440"/>
            <a:ext cx="511560" cy="51156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1" descr="preencoded.png"/>
          <p:cNvPicPr/>
          <p:nvPr/>
        </p:nvPicPr>
        <p:blipFill>
          <a:blip r:embed="rId2"/>
          <a:stretch/>
        </p:blipFill>
        <p:spPr>
          <a:xfrm>
            <a:off x="3237120" y="13716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7"/>
          <p:cNvSpPr/>
          <p:nvPr/>
        </p:nvSpPr>
        <p:spPr>
          <a:xfrm>
            <a:off x="3749040" y="118872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Tentang Kami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3749040" y="149976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Profil &amp; tim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Halaman Kursus"/>
          <p:cNvSpPr/>
          <p:nvPr/>
        </p:nvSpPr>
        <p:spPr>
          <a:xfrm>
            <a:off x="457200" y="2011680"/>
            <a:ext cx="237708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0"/>
          <p:cNvSpPr/>
          <p:nvPr/>
        </p:nvSpPr>
        <p:spPr>
          <a:xfrm>
            <a:off x="594360" y="2157840"/>
            <a:ext cx="511560" cy="511560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2" descr="preencoded.png"/>
          <p:cNvPicPr/>
          <p:nvPr/>
        </p:nvPicPr>
        <p:blipFill>
          <a:blip r:embed="rId3"/>
          <a:stretch/>
        </p:blipFill>
        <p:spPr>
          <a:xfrm>
            <a:off x="722520" y="22860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11"/>
          <p:cNvSpPr/>
          <p:nvPr/>
        </p:nvSpPr>
        <p:spPr>
          <a:xfrm>
            <a:off x="1234440" y="210312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Kursus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2"/>
          <p:cNvSpPr/>
          <p:nvPr/>
        </p:nvSpPr>
        <p:spPr>
          <a:xfrm>
            <a:off x="1234440" y="241416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Daftar mata pelajaran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Halaman Galeri"/>
          <p:cNvSpPr/>
          <p:nvPr/>
        </p:nvSpPr>
        <p:spPr>
          <a:xfrm>
            <a:off x="2971800" y="2011680"/>
            <a:ext cx="237708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4"/>
          <p:cNvSpPr/>
          <p:nvPr/>
        </p:nvSpPr>
        <p:spPr>
          <a:xfrm>
            <a:off x="3108960" y="2157840"/>
            <a:ext cx="511560" cy="511560"/>
          </a:xfrm>
          <a:prstGeom prst="ellipse">
            <a:avLst/>
          </a:prstGeom>
          <a:solidFill>
            <a:srgbClr val="D867B2"/>
          </a:solidFill>
          <a:ln w="12700">
            <a:solidFill>
              <a:srgbClr val="D867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3" descr="preencoded.png"/>
          <p:cNvPicPr/>
          <p:nvPr/>
        </p:nvPicPr>
        <p:blipFill>
          <a:blip r:embed="rId4"/>
          <a:stretch/>
        </p:blipFill>
        <p:spPr>
          <a:xfrm>
            <a:off x="3237120" y="22860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15"/>
          <p:cNvSpPr/>
          <p:nvPr/>
        </p:nvSpPr>
        <p:spPr>
          <a:xfrm>
            <a:off x="3749040" y="210312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Galeri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6"/>
          <p:cNvSpPr/>
          <p:nvPr/>
        </p:nvSpPr>
        <p:spPr>
          <a:xfrm>
            <a:off x="3749040" y="241416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Filter SD / SMP / SMA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Halaman Harga"/>
          <p:cNvSpPr/>
          <p:nvPr/>
        </p:nvSpPr>
        <p:spPr>
          <a:xfrm>
            <a:off x="457200" y="2926080"/>
            <a:ext cx="237708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8"/>
          <p:cNvSpPr/>
          <p:nvPr/>
        </p:nvSpPr>
        <p:spPr>
          <a:xfrm>
            <a:off x="594360" y="3072240"/>
            <a:ext cx="511560" cy="511560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5" name="Image 4" descr="preencoded.png"/>
          <p:cNvPicPr/>
          <p:nvPr/>
        </p:nvPicPr>
        <p:blipFill>
          <a:blip r:embed="rId5"/>
          <a:stretch/>
        </p:blipFill>
        <p:spPr>
          <a:xfrm>
            <a:off x="722520" y="32004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19"/>
          <p:cNvSpPr/>
          <p:nvPr/>
        </p:nvSpPr>
        <p:spPr>
          <a:xfrm>
            <a:off x="1234440" y="301752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Harga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1234440" y="332856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4 paket bulanan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Halaman Kontak"/>
          <p:cNvSpPr/>
          <p:nvPr/>
        </p:nvSpPr>
        <p:spPr>
          <a:xfrm>
            <a:off x="2971800" y="2926080"/>
            <a:ext cx="237708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2"/>
          <p:cNvSpPr/>
          <p:nvPr/>
        </p:nvSpPr>
        <p:spPr>
          <a:xfrm>
            <a:off x="3108960" y="3072240"/>
            <a:ext cx="511560" cy="51156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5" descr="preencoded.png"/>
          <p:cNvPicPr/>
          <p:nvPr/>
        </p:nvPicPr>
        <p:blipFill>
          <a:blip r:embed="rId6"/>
          <a:stretch/>
        </p:blipFill>
        <p:spPr>
          <a:xfrm>
            <a:off x="3237120" y="32004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23"/>
          <p:cNvSpPr/>
          <p:nvPr/>
        </p:nvSpPr>
        <p:spPr>
          <a:xfrm>
            <a:off x="3749040" y="301752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Kontak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4"/>
          <p:cNvSpPr/>
          <p:nvPr/>
        </p:nvSpPr>
        <p:spPr>
          <a:xfrm>
            <a:off x="3749040" y="332856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Peta &amp; formulir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Halaman Berita"/>
          <p:cNvSpPr/>
          <p:nvPr/>
        </p:nvSpPr>
        <p:spPr>
          <a:xfrm>
            <a:off x="457200" y="3840480"/>
            <a:ext cx="237708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6"/>
          <p:cNvSpPr/>
          <p:nvPr/>
        </p:nvSpPr>
        <p:spPr>
          <a:xfrm>
            <a:off x="594360" y="3986640"/>
            <a:ext cx="511560" cy="51156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6" descr="preencoded.png"/>
          <p:cNvPicPr/>
          <p:nvPr/>
        </p:nvPicPr>
        <p:blipFill>
          <a:blip r:embed="rId7"/>
          <a:stretch/>
        </p:blipFill>
        <p:spPr>
          <a:xfrm>
            <a:off x="722520" y="41148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27"/>
          <p:cNvSpPr/>
          <p:nvPr/>
        </p:nvSpPr>
        <p:spPr>
          <a:xfrm>
            <a:off x="1234440" y="393192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Berita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8"/>
          <p:cNvSpPr/>
          <p:nvPr/>
        </p:nvSpPr>
        <p:spPr>
          <a:xfrm>
            <a:off x="1234440" y="424296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3 berita terbaru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Halaman Artikel"/>
          <p:cNvSpPr/>
          <p:nvPr/>
        </p:nvSpPr>
        <p:spPr>
          <a:xfrm>
            <a:off x="2971800" y="3840480"/>
            <a:ext cx="237708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0"/>
          <p:cNvSpPr/>
          <p:nvPr/>
        </p:nvSpPr>
        <p:spPr>
          <a:xfrm>
            <a:off x="3108960" y="3986640"/>
            <a:ext cx="511560" cy="511560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7" descr="preencoded.png"/>
          <p:cNvPicPr/>
          <p:nvPr/>
        </p:nvPicPr>
        <p:blipFill>
          <a:blip r:embed="rId8"/>
          <a:stretch/>
        </p:blipFill>
        <p:spPr>
          <a:xfrm>
            <a:off x="3237120" y="41148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31"/>
          <p:cNvSpPr/>
          <p:nvPr/>
        </p:nvSpPr>
        <p:spPr>
          <a:xfrm>
            <a:off x="3749040" y="393192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Artikel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2"/>
          <p:cNvSpPr/>
          <p:nvPr/>
        </p:nvSpPr>
        <p:spPr>
          <a:xfrm>
            <a:off x="3749040" y="424296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3 artikel belajar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screenshot"/>
          <p:cNvSpPr/>
          <p:nvPr/>
        </p:nvSpPr>
        <p:spPr>
          <a:xfrm>
            <a:off x="5577840" y="1097280"/>
            <a:ext cx="3108600" cy="3547440"/>
          </a:xfrm>
          <a:prstGeom prst="roundRect">
            <a:avLst>
              <a:gd name="adj" fmla="val 3529"/>
            </a:avLst>
          </a:prstGeom>
          <a:solidFill>
            <a:srgbClr val="EFEFEF"/>
          </a:solidFill>
          <a:ln w="19050">
            <a:solidFill>
              <a:srgbClr val="9A9A9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8" descr="preencoded.png"/>
          <p:cNvPicPr/>
          <p:nvPr/>
        </p:nvPicPr>
        <p:blipFill>
          <a:blip r:embed="rId9"/>
          <a:stretch/>
        </p:blipFill>
        <p:spPr>
          <a:xfrm>
            <a:off x="6903720" y="2197080"/>
            <a:ext cx="4568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34"/>
          <p:cNvSpPr/>
          <p:nvPr/>
        </p:nvSpPr>
        <p:spPr>
          <a:xfrm>
            <a:off x="5715000" y="2700000"/>
            <a:ext cx="2834280" cy="185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7F6A"/>
                </a:solidFill>
                <a:effectLst/>
                <a:uFillTx/>
                <a:latin typeface="Calibri"/>
                <a:ea typeface="Calibri"/>
              </a:rPr>
              <a:t>SCREENSHOT: </a:t>
            </a: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Halaman Beranda (index.html) — tampilkan slider + bagian "Kursus Unggulan Kami", lebar layar penuh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</a:pPr>
            <a:endParaRPr lang="en-US" sz="3000" b="1" u="none" strike="noStrike">
              <a:solidFill>
                <a:srgbClr val="0F7F6A"/>
              </a:solidFill>
              <a:effectLst/>
              <a:uFillTx/>
              <a:latin typeface="Calibri"/>
            </a:endParaRPr>
          </a:p>
        </p:txBody>
      </p:sp>
      <p:pic>
        <p:nvPicPr>
          <p:cNvPr id="167" name=""/>
          <p:cNvPicPr/>
          <p:nvPr/>
        </p:nvPicPr>
        <p:blipFill>
          <a:blip r:embed="rId10"/>
          <a:stretch/>
        </p:blipFill>
        <p:spPr>
          <a:xfrm>
            <a:off x="5486400" y="1011600"/>
            <a:ext cx="3200400" cy="3789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Teknologi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knologi HTML5"/>
          <p:cNvSpPr/>
          <p:nvPr/>
        </p:nvSpPr>
        <p:spPr>
          <a:xfrm>
            <a:off x="457200" y="1188720"/>
            <a:ext cx="191988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"/>
          <p:cNvSpPr/>
          <p:nvPr/>
        </p:nvSpPr>
        <p:spPr>
          <a:xfrm>
            <a:off x="1051560" y="1371600"/>
            <a:ext cx="731160" cy="731160"/>
          </a:xfrm>
          <a:prstGeom prst="ellipse">
            <a:avLst/>
          </a:prstGeom>
          <a:solidFill>
            <a:srgbClr val="E44D26"/>
          </a:solidFill>
          <a:ln w="12700">
            <a:solidFill>
              <a:srgbClr val="E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0" descr="preencoded.png"/>
          <p:cNvPicPr/>
          <p:nvPr/>
        </p:nvPicPr>
        <p:blipFill>
          <a:blip r:embed="rId1"/>
          <a:stretch/>
        </p:blipFill>
        <p:spPr>
          <a:xfrm>
            <a:off x="1234440" y="15544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3"/>
          <p:cNvSpPr/>
          <p:nvPr/>
        </p:nvSpPr>
        <p:spPr>
          <a:xfrm>
            <a:off x="457200" y="214884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HTML5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457200" y="24688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Struktur halaman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knologi CSS3"/>
          <p:cNvSpPr/>
          <p:nvPr/>
        </p:nvSpPr>
        <p:spPr>
          <a:xfrm>
            <a:off x="2560320" y="1188720"/>
            <a:ext cx="191988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6"/>
          <p:cNvSpPr/>
          <p:nvPr/>
        </p:nvSpPr>
        <p:spPr>
          <a:xfrm>
            <a:off x="3154680" y="1371600"/>
            <a:ext cx="731160" cy="73116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1" descr="preencoded.png"/>
          <p:cNvPicPr/>
          <p:nvPr/>
        </p:nvPicPr>
        <p:blipFill>
          <a:blip r:embed="rId2"/>
          <a:stretch/>
        </p:blipFill>
        <p:spPr>
          <a:xfrm>
            <a:off x="3337560" y="15544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7"/>
          <p:cNvSpPr/>
          <p:nvPr/>
        </p:nvSpPr>
        <p:spPr>
          <a:xfrm>
            <a:off x="2560320" y="214884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CSS3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8"/>
          <p:cNvSpPr/>
          <p:nvPr/>
        </p:nvSpPr>
        <p:spPr>
          <a:xfrm>
            <a:off x="2560320" y="24688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Tampilan &amp; gaya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knologi Bootstrap 3"/>
          <p:cNvSpPr/>
          <p:nvPr/>
        </p:nvSpPr>
        <p:spPr>
          <a:xfrm>
            <a:off x="4663440" y="1188720"/>
            <a:ext cx="191988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0"/>
          <p:cNvSpPr/>
          <p:nvPr/>
        </p:nvSpPr>
        <p:spPr>
          <a:xfrm>
            <a:off x="5257800" y="1371600"/>
            <a:ext cx="731160" cy="731160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" name="Image 2" descr="preencoded.png"/>
          <p:cNvPicPr/>
          <p:nvPr/>
        </p:nvPicPr>
        <p:blipFill>
          <a:blip r:embed="rId3"/>
          <a:stretch/>
        </p:blipFill>
        <p:spPr>
          <a:xfrm>
            <a:off x="5440680" y="15544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 11"/>
          <p:cNvSpPr/>
          <p:nvPr/>
        </p:nvSpPr>
        <p:spPr>
          <a:xfrm>
            <a:off x="4663440" y="214884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Bootstrap 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4663440" y="24688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Grid responsif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knologi jQuery"/>
          <p:cNvSpPr/>
          <p:nvPr/>
        </p:nvSpPr>
        <p:spPr>
          <a:xfrm>
            <a:off x="6766560" y="1188720"/>
            <a:ext cx="191988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7360920" y="1371600"/>
            <a:ext cx="731160" cy="731160"/>
          </a:xfrm>
          <a:prstGeom prst="ellipse">
            <a:avLst/>
          </a:prstGeom>
          <a:solidFill>
            <a:srgbClr val="0868AC"/>
          </a:solidFill>
          <a:ln w="12700">
            <a:solidFill>
              <a:srgbClr val="0868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3" descr="preencoded.png"/>
          <p:cNvPicPr/>
          <p:nvPr/>
        </p:nvPicPr>
        <p:blipFill>
          <a:blip r:embed="rId4"/>
          <a:stretch/>
        </p:blipFill>
        <p:spPr>
          <a:xfrm>
            <a:off x="7543800" y="15544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15"/>
          <p:cNvSpPr/>
          <p:nvPr/>
        </p:nvSpPr>
        <p:spPr>
          <a:xfrm>
            <a:off x="6766560" y="214884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jQuery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6766560" y="24688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Interaksi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knologi FlexSlider"/>
          <p:cNvSpPr/>
          <p:nvPr/>
        </p:nvSpPr>
        <p:spPr>
          <a:xfrm>
            <a:off x="457200" y="3017520"/>
            <a:ext cx="191988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8"/>
          <p:cNvSpPr/>
          <p:nvPr/>
        </p:nvSpPr>
        <p:spPr>
          <a:xfrm>
            <a:off x="1051560" y="3200400"/>
            <a:ext cx="731160" cy="731160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Image 4" descr="preencoded.png"/>
          <p:cNvPicPr/>
          <p:nvPr/>
        </p:nvPicPr>
        <p:blipFill>
          <a:blip r:embed="rId5"/>
          <a:stretch/>
        </p:blipFill>
        <p:spPr>
          <a:xfrm>
            <a:off x="1234440" y="3383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19"/>
          <p:cNvSpPr/>
          <p:nvPr/>
        </p:nvSpPr>
        <p:spPr>
          <a:xfrm>
            <a:off x="457200" y="397764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FlexSlider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0"/>
          <p:cNvSpPr/>
          <p:nvPr/>
        </p:nvSpPr>
        <p:spPr>
          <a:xfrm>
            <a:off x="457200" y="42976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Slider gambar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knologi Fancybox"/>
          <p:cNvSpPr/>
          <p:nvPr/>
        </p:nvSpPr>
        <p:spPr>
          <a:xfrm>
            <a:off x="2560320" y="3017520"/>
            <a:ext cx="191988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2"/>
          <p:cNvSpPr/>
          <p:nvPr/>
        </p:nvSpPr>
        <p:spPr>
          <a:xfrm>
            <a:off x="3154680" y="3200400"/>
            <a:ext cx="731160" cy="731160"/>
          </a:xfrm>
          <a:prstGeom prst="ellipse">
            <a:avLst/>
          </a:prstGeom>
          <a:solidFill>
            <a:srgbClr val="D867B2"/>
          </a:solidFill>
          <a:ln w="12700">
            <a:solidFill>
              <a:srgbClr val="D867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5" descr="preencoded.png"/>
          <p:cNvPicPr/>
          <p:nvPr/>
        </p:nvPicPr>
        <p:blipFill>
          <a:blip r:embed="rId6"/>
          <a:stretch/>
        </p:blipFill>
        <p:spPr>
          <a:xfrm>
            <a:off x="3337560" y="3383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23"/>
          <p:cNvSpPr/>
          <p:nvPr/>
        </p:nvSpPr>
        <p:spPr>
          <a:xfrm>
            <a:off x="2560320" y="397764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Fancybox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4"/>
          <p:cNvSpPr/>
          <p:nvPr/>
        </p:nvSpPr>
        <p:spPr>
          <a:xfrm>
            <a:off x="2560320" y="42976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Pop-up galeri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knologi Font Awesome"/>
          <p:cNvSpPr/>
          <p:nvPr/>
        </p:nvSpPr>
        <p:spPr>
          <a:xfrm>
            <a:off x="4663440" y="3017520"/>
            <a:ext cx="191988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6"/>
          <p:cNvSpPr/>
          <p:nvPr/>
        </p:nvSpPr>
        <p:spPr>
          <a:xfrm>
            <a:off x="5257800" y="3200400"/>
            <a:ext cx="731160" cy="731160"/>
          </a:xfrm>
          <a:prstGeom prst="ellipse">
            <a:avLst/>
          </a:prstGeom>
          <a:solidFill>
            <a:srgbClr val="339AF0"/>
          </a:solidFill>
          <a:ln w="12700">
            <a:solidFill>
              <a:srgbClr val="339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6" descr="preencoded.png"/>
          <p:cNvPicPr/>
          <p:nvPr/>
        </p:nvPicPr>
        <p:blipFill>
          <a:blip r:embed="rId7"/>
          <a:stretch/>
        </p:blipFill>
        <p:spPr>
          <a:xfrm>
            <a:off x="5440680" y="3383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27"/>
          <p:cNvSpPr/>
          <p:nvPr/>
        </p:nvSpPr>
        <p:spPr>
          <a:xfrm>
            <a:off x="4663440" y="397764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Font Awesome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8"/>
          <p:cNvSpPr/>
          <p:nvPr/>
        </p:nvSpPr>
        <p:spPr>
          <a:xfrm>
            <a:off x="4663440" y="42976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Ikon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knologi Git &amp; GitHub"/>
          <p:cNvSpPr/>
          <p:nvPr/>
        </p:nvSpPr>
        <p:spPr>
          <a:xfrm>
            <a:off x="6766560" y="3017520"/>
            <a:ext cx="191988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0"/>
          <p:cNvSpPr/>
          <p:nvPr/>
        </p:nvSpPr>
        <p:spPr>
          <a:xfrm>
            <a:off x="7360920" y="3200400"/>
            <a:ext cx="731160" cy="731160"/>
          </a:xfrm>
          <a:prstGeom prst="ellipse">
            <a:avLst/>
          </a:prstGeom>
          <a:solidFill>
            <a:srgbClr val="24292F"/>
          </a:solidFill>
          <a:ln w="12700">
            <a:solidFill>
              <a:srgbClr val="2429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7" descr="preencoded.png"/>
          <p:cNvPicPr/>
          <p:nvPr/>
        </p:nvPicPr>
        <p:blipFill>
          <a:blip r:embed="rId8"/>
          <a:stretch/>
        </p:blipFill>
        <p:spPr>
          <a:xfrm>
            <a:off x="7543800" y="3383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31"/>
          <p:cNvSpPr/>
          <p:nvPr/>
        </p:nvSpPr>
        <p:spPr>
          <a:xfrm>
            <a:off x="6766560" y="397764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Git &amp; GitHub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2"/>
          <p:cNvSpPr/>
          <p:nvPr/>
        </p:nvSpPr>
        <p:spPr>
          <a:xfrm>
            <a:off x="6766560" y="42976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Kolaborasi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</a:pPr>
            <a:endParaRPr lang="en-US" sz="3000" b="1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7F6A"/>
                </a:solidFill>
                <a:effectLst/>
                <a:uFillTx/>
                <a:latin typeface="Calibri"/>
                <a:ea typeface="Calibri"/>
              </a:rPr>
              <a:t>Alur Kerja GitHub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Langkah Branch"/>
          <p:cNvSpPr/>
          <p:nvPr/>
        </p:nvSpPr>
        <p:spPr>
          <a:xfrm>
            <a:off x="457200" y="1097280"/>
            <a:ext cx="1828440" cy="86832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"/>
          <p:cNvSpPr/>
          <p:nvPr/>
        </p:nvSpPr>
        <p:spPr>
          <a:xfrm>
            <a:off x="567000" y="1280160"/>
            <a:ext cx="502560" cy="50256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3" name="Image 0" descr="preencoded.png"/>
          <p:cNvPicPr/>
          <p:nvPr/>
        </p:nvPicPr>
        <p:blipFill>
          <a:blip r:embed="rId1"/>
          <a:stretch/>
        </p:blipFill>
        <p:spPr>
          <a:xfrm>
            <a:off x="692640" y="140580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 3"/>
          <p:cNvSpPr/>
          <p:nvPr/>
        </p:nvSpPr>
        <p:spPr>
          <a:xfrm>
            <a:off x="1170360" y="1097280"/>
            <a:ext cx="1051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Branch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4"/>
          <p:cNvSpPr/>
          <p:nvPr/>
        </p:nvSpPr>
        <p:spPr>
          <a:xfrm>
            <a:off x="365760" y="1005840"/>
            <a:ext cx="273960" cy="2739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365760" y="10058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Langkah Commit"/>
          <p:cNvSpPr/>
          <p:nvPr/>
        </p:nvSpPr>
        <p:spPr>
          <a:xfrm>
            <a:off x="2587680" y="1097280"/>
            <a:ext cx="1828440" cy="86832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7"/>
          <p:cNvSpPr/>
          <p:nvPr/>
        </p:nvSpPr>
        <p:spPr>
          <a:xfrm>
            <a:off x="2697480" y="1280160"/>
            <a:ext cx="502560" cy="50256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1" descr="preencoded.png"/>
          <p:cNvPicPr/>
          <p:nvPr/>
        </p:nvPicPr>
        <p:blipFill>
          <a:blip r:embed="rId2"/>
          <a:stretch/>
        </p:blipFill>
        <p:spPr>
          <a:xfrm>
            <a:off x="2823120" y="140580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8"/>
          <p:cNvSpPr/>
          <p:nvPr/>
        </p:nvSpPr>
        <p:spPr>
          <a:xfrm>
            <a:off x="3300840" y="1097280"/>
            <a:ext cx="1051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Commit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9"/>
          <p:cNvSpPr/>
          <p:nvPr/>
        </p:nvSpPr>
        <p:spPr>
          <a:xfrm>
            <a:off x="2496240" y="1005840"/>
            <a:ext cx="273960" cy="2739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0"/>
          <p:cNvSpPr/>
          <p:nvPr/>
        </p:nvSpPr>
        <p:spPr>
          <a:xfrm>
            <a:off x="2496240" y="10058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Langkah Push"/>
          <p:cNvSpPr/>
          <p:nvPr/>
        </p:nvSpPr>
        <p:spPr>
          <a:xfrm>
            <a:off x="4718160" y="1097280"/>
            <a:ext cx="1828440" cy="86832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2"/>
          <p:cNvSpPr/>
          <p:nvPr/>
        </p:nvSpPr>
        <p:spPr>
          <a:xfrm>
            <a:off x="4827960" y="1280160"/>
            <a:ext cx="502560" cy="50256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 2" descr="preencoded.png"/>
          <p:cNvPicPr/>
          <p:nvPr/>
        </p:nvPicPr>
        <p:blipFill>
          <a:blip r:embed="rId3"/>
          <a:stretch/>
        </p:blipFill>
        <p:spPr>
          <a:xfrm>
            <a:off x="4953600" y="140580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 13"/>
          <p:cNvSpPr/>
          <p:nvPr/>
        </p:nvSpPr>
        <p:spPr>
          <a:xfrm>
            <a:off x="5431680" y="1097280"/>
            <a:ext cx="1051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Push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4"/>
          <p:cNvSpPr/>
          <p:nvPr/>
        </p:nvSpPr>
        <p:spPr>
          <a:xfrm>
            <a:off x="4626720" y="1005840"/>
            <a:ext cx="273960" cy="2739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5"/>
          <p:cNvSpPr/>
          <p:nvPr/>
        </p:nvSpPr>
        <p:spPr>
          <a:xfrm>
            <a:off x="4626720" y="10058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Langkah Pull Request"/>
          <p:cNvSpPr/>
          <p:nvPr/>
        </p:nvSpPr>
        <p:spPr>
          <a:xfrm>
            <a:off x="6849000" y="1097280"/>
            <a:ext cx="1828440" cy="86832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7"/>
          <p:cNvSpPr/>
          <p:nvPr/>
        </p:nvSpPr>
        <p:spPr>
          <a:xfrm>
            <a:off x="6958440" y="1280160"/>
            <a:ext cx="502560" cy="50256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3" descr="preencoded.png"/>
          <p:cNvPicPr/>
          <p:nvPr/>
        </p:nvPicPr>
        <p:blipFill>
          <a:blip r:embed="rId4"/>
          <a:stretch/>
        </p:blipFill>
        <p:spPr>
          <a:xfrm>
            <a:off x="7084440" y="140580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18"/>
          <p:cNvSpPr/>
          <p:nvPr/>
        </p:nvSpPr>
        <p:spPr>
          <a:xfrm>
            <a:off x="7562160" y="1097280"/>
            <a:ext cx="1051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Pull Request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9"/>
          <p:cNvSpPr/>
          <p:nvPr/>
        </p:nvSpPr>
        <p:spPr>
          <a:xfrm>
            <a:off x="6757560" y="1005840"/>
            <a:ext cx="273960" cy="2739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0"/>
          <p:cNvSpPr/>
          <p:nvPr/>
        </p:nvSpPr>
        <p:spPr>
          <a:xfrm>
            <a:off x="6757560" y="10058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Langkah Review &amp; Komentar"/>
          <p:cNvSpPr/>
          <p:nvPr/>
        </p:nvSpPr>
        <p:spPr>
          <a:xfrm>
            <a:off x="6849000" y="2377440"/>
            <a:ext cx="1828440" cy="86832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2"/>
          <p:cNvSpPr/>
          <p:nvPr/>
        </p:nvSpPr>
        <p:spPr>
          <a:xfrm>
            <a:off x="6958440" y="2560320"/>
            <a:ext cx="502560" cy="502560"/>
          </a:xfrm>
          <a:prstGeom prst="ellipse">
            <a:avLst/>
          </a:prstGeom>
          <a:solidFill>
            <a:srgbClr val="D867B2"/>
          </a:solidFill>
          <a:ln w="12700">
            <a:solidFill>
              <a:srgbClr val="D867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4" descr="preencoded.png"/>
          <p:cNvPicPr/>
          <p:nvPr/>
        </p:nvPicPr>
        <p:blipFill>
          <a:blip r:embed="rId5"/>
          <a:stretch/>
        </p:blipFill>
        <p:spPr>
          <a:xfrm>
            <a:off x="7084440" y="268596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23"/>
          <p:cNvSpPr/>
          <p:nvPr/>
        </p:nvSpPr>
        <p:spPr>
          <a:xfrm>
            <a:off x="7562160" y="2377440"/>
            <a:ext cx="1051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Review &amp; Komentar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4"/>
          <p:cNvSpPr/>
          <p:nvPr/>
        </p:nvSpPr>
        <p:spPr>
          <a:xfrm>
            <a:off x="6757560" y="2286000"/>
            <a:ext cx="273960" cy="2739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5"/>
          <p:cNvSpPr/>
          <p:nvPr/>
        </p:nvSpPr>
        <p:spPr>
          <a:xfrm>
            <a:off x="6757560" y="22860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Langkah Perbaikan"/>
          <p:cNvSpPr/>
          <p:nvPr/>
        </p:nvSpPr>
        <p:spPr>
          <a:xfrm>
            <a:off x="4718160" y="2377440"/>
            <a:ext cx="1828440" cy="86832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7"/>
          <p:cNvSpPr/>
          <p:nvPr/>
        </p:nvSpPr>
        <p:spPr>
          <a:xfrm>
            <a:off x="4827960" y="2560320"/>
            <a:ext cx="502560" cy="502560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3" name="Image 5" descr="preencoded.png"/>
          <p:cNvPicPr/>
          <p:nvPr/>
        </p:nvPicPr>
        <p:blipFill>
          <a:blip r:embed="rId6"/>
          <a:stretch/>
        </p:blipFill>
        <p:spPr>
          <a:xfrm>
            <a:off x="4953600" y="268596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Text 28"/>
          <p:cNvSpPr/>
          <p:nvPr/>
        </p:nvSpPr>
        <p:spPr>
          <a:xfrm>
            <a:off x="5431680" y="2377440"/>
            <a:ext cx="1051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Perbaikan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9"/>
          <p:cNvSpPr/>
          <p:nvPr/>
        </p:nvSpPr>
        <p:spPr>
          <a:xfrm>
            <a:off x="4626720" y="2286000"/>
            <a:ext cx="273960" cy="2739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0"/>
          <p:cNvSpPr/>
          <p:nvPr/>
        </p:nvSpPr>
        <p:spPr>
          <a:xfrm>
            <a:off x="4626720" y="22860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Langkah Approve"/>
          <p:cNvSpPr/>
          <p:nvPr/>
        </p:nvSpPr>
        <p:spPr>
          <a:xfrm>
            <a:off x="2587680" y="2377440"/>
            <a:ext cx="1828440" cy="86832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2"/>
          <p:cNvSpPr/>
          <p:nvPr/>
        </p:nvSpPr>
        <p:spPr>
          <a:xfrm>
            <a:off x="2697480" y="2560320"/>
            <a:ext cx="502560" cy="502560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9" name="Image 6" descr="preencoded.png"/>
          <p:cNvPicPr/>
          <p:nvPr/>
        </p:nvPicPr>
        <p:blipFill>
          <a:blip r:embed="rId7"/>
          <a:stretch/>
        </p:blipFill>
        <p:spPr>
          <a:xfrm>
            <a:off x="2823120" y="268596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33"/>
          <p:cNvSpPr/>
          <p:nvPr/>
        </p:nvSpPr>
        <p:spPr>
          <a:xfrm>
            <a:off x="3300840" y="2377440"/>
            <a:ext cx="1051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Approve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4"/>
          <p:cNvSpPr/>
          <p:nvPr/>
        </p:nvSpPr>
        <p:spPr>
          <a:xfrm>
            <a:off x="2496240" y="2286000"/>
            <a:ext cx="273960" cy="2739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5"/>
          <p:cNvSpPr/>
          <p:nvPr/>
        </p:nvSpPr>
        <p:spPr>
          <a:xfrm>
            <a:off x="2496240" y="22860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Langkah Merge ke main"/>
          <p:cNvSpPr/>
          <p:nvPr/>
        </p:nvSpPr>
        <p:spPr>
          <a:xfrm>
            <a:off x="457200" y="2377440"/>
            <a:ext cx="1828440" cy="86832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7"/>
          <p:cNvSpPr/>
          <p:nvPr/>
        </p:nvSpPr>
        <p:spPr>
          <a:xfrm>
            <a:off x="567000" y="2560320"/>
            <a:ext cx="502560" cy="502560"/>
          </a:xfrm>
          <a:prstGeom prst="ellipse">
            <a:avLst/>
          </a:prstGeom>
          <a:solidFill>
            <a:srgbClr val="0F7F6A"/>
          </a:solidFill>
          <a:ln w="12700">
            <a:solidFill>
              <a:srgbClr val="0F7F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7" descr="preencoded.png"/>
          <p:cNvPicPr/>
          <p:nvPr/>
        </p:nvPicPr>
        <p:blipFill>
          <a:blip r:embed="rId8"/>
          <a:stretch/>
        </p:blipFill>
        <p:spPr>
          <a:xfrm>
            <a:off x="692640" y="268596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38"/>
          <p:cNvSpPr/>
          <p:nvPr/>
        </p:nvSpPr>
        <p:spPr>
          <a:xfrm>
            <a:off x="1170360" y="2377440"/>
            <a:ext cx="1051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Merge ke main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9"/>
          <p:cNvSpPr/>
          <p:nvPr/>
        </p:nvSpPr>
        <p:spPr>
          <a:xfrm>
            <a:off x="365760" y="2286000"/>
            <a:ext cx="273960" cy="2739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0"/>
          <p:cNvSpPr/>
          <p:nvPr/>
        </p:nvSpPr>
        <p:spPr>
          <a:xfrm>
            <a:off x="365760" y="22860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1"/>
          <p:cNvSpPr/>
          <p:nvPr/>
        </p:nvSpPr>
        <p:spPr>
          <a:xfrm>
            <a:off x="2313360" y="1526760"/>
            <a:ext cx="246960" cy="360"/>
          </a:xfrm>
          <a:prstGeom prst="line">
            <a:avLst/>
          </a:prstGeom>
          <a:ln w="31750">
            <a:solidFill>
              <a:srgbClr val="6B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2"/>
          <p:cNvSpPr/>
          <p:nvPr/>
        </p:nvSpPr>
        <p:spPr>
          <a:xfrm>
            <a:off x="4443840" y="1526760"/>
            <a:ext cx="246960" cy="360"/>
          </a:xfrm>
          <a:prstGeom prst="line">
            <a:avLst/>
          </a:prstGeom>
          <a:ln w="31750">
            <a:solidFill>
              <a:srgbClr val="6B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3"/>
          <p:cNvSpPr/>
          <p:nvPr/>
        </p:nvSpPr>
        <p:spPr>
          <a:xfrm>
            <a:off x="6574320" y="1526760"/>
            <a:ext cx="246960" cy="360"/>
          </a:xfrm>
          <a:prstGeom prst="line">
            <a:avLst/>
          </a:prstGeom>
          <a:ln w="31750">
            <a:solidFill>
              <a:srgbClr val="6B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44"/>
          <p:cNvSpPr/>
          <p:nvPr/>
        </p:nvSpPr>
        <p:spPr>
          <a:xfrm>
            <a:off x="7763040" y="1993320"/>
            <a:ext cx="360" cy="347400"/>
          </a:xfrm>
          <a:prstGeom prst="line">
            <a:avLst/>
          </a:prstGeom>
          <a:ln w="31750">
            <a:solidFill>
              <a:srgbClr val="6B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45"/>
          <p:cNvSpPr/>
          <p:nvPr/>
        </p:nvSpPr>
        <p:spPr>
          <a:xfrm flipH="1">
            <a:off x="6574320" y="2806920"/>
            <a:ext cx="246960" cy="360"/>
          </a:xfrm>
          <a:prstGeom prst="line">
            <a:avLst/>
          </a:prstGeom>
          <a:ln w="31750">
            <a:solidFill>
              <a:srgbClr val="E9573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46"/>
          <p:cNvSpPr/>
          <p:nvPr/>
        </p:nvSpPr>
        <p:spPr>
          <a:xfrm flipH="1">
            <a:off x="4443840" y="2806920"/>
            <a:ext cx="246960" cy="360"/>
          </a:xfrm>
          <a:prstGeom prst="line">
            <a:avLst/>
          </a:prstGeom>
          <a:ln w="31750">
            <a:solidFill>
              <a:srgbClr val="6B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47"/>
          <p:cNvSpPr/>
          <p:nvPr/>
        </p:nvSpPr>
        <p:spPr>
          <a:xfrm flipH="1">
            <a:off x="2313360" y="2806920"/>
            <a:ext cx="246960" cy="360"/>
          </a:xfrm>
          <a:prstGeom prst="line">
            <a:avLst/>
          </a:prstGeom>
          <a:ln w="31750">
            <a:solidFill>
              <a:srgbClr val="6B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48"/>
          <p:cNvSpPr/>
          <p:nvPr/>
        </p:nvSpPr>
        <p:spPr>
          <a:xfrm>
            <a:off x="5632560" y="3246120"/>
            <a:ext cx="360" cy="200880"/>
          </a:xfrm>
          <a:prstGeom prst="line">
            <a:avLst/>
          </a:prstGeom>
          <a:ln w="31750">
            <a:solidFill>
              <a:srgbClr val="E95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49"/>
          <p:cNvSpPr/>
          <p:nvPr/>
        </p:nvSpPr>
        <p:spPr>
          <a:xfrm>
            <a:off x="5632560" y="3447000"/>
            <a:ext cx="2130480" cy="360"/>
          </a:xfrm>
          <a:prstGeom prst="line">
            <a:avLst/>
          </a:prstGeom>
          <a:ln w="31750">
            <a:solidFill>
              <a:srgbClr val="E95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0"/>
          <p:cNvSpPr/>
          <p:nvPr/>
        </p:nvSpPr>
        <p:spPr>
          <a:xfrm flipV="1">
            <a:off x="7763040" y="3246120"/>
            <a:ext cx="360" cy="200880"/>
          </a:xfrm>
          <a:prstGeom prst="line">
            <a:avLst/>
          </a:prstGeom>
          <a:ln w="31750">
            <a:solidFill>
              <a:srgbClr val="E9573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1"/>
          <p:cNvSpPr/>
          <p:nvPr/>
        </p:nvSpPr>
        <p:spPr>
          <a:xfrm>
            <a:off x="3712320" y="332856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9573F"/>
                </a:solidFill>
                <a:effectLst/>
                <a:uFillTx/>
                <a:latin typeface="Calibri"/>
                <a:ea typeface="Calibri"/>
              </a:rPr>
              <a:t>Ulangi sampai disetujui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Image 8" descr="preencoded.png"/>
          <p:cNvPicPr/>
          <p:nvPr/>
        </p:nvPicPr>
        <p:blipFill>
          <a:blip r:embed="rId9"/>
          <a:stretch/>
        </p:blipFill>
        <p:spPr>
          <a:xfrm>
            <a:off x="4446360" y="3829680"/>
            <a:ext cx="251280" cy="22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 53"/>
          <p:cNvSpPr/>
          <p:nvPr/>
        </p:nvSpPr>
        <p:spPr>
          <a:xfrm>
            <a:off x="594360" y="4126680"/>
            <a:ext cx="7954920" cy="5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7F6A"/>
                </a:solidFill>
                <a:effectLst/>
                <a:uFillTx/>
                <a:latin typeface="Calibri"/>
                <a:ea typeface="Calibri"/>
              </a:rPr>
              <a:t>SCREENSHOT: </a:t>
            </a: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Pull Request di GitHub — komentar Reviewer + tombol Approve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</a:pPr>
            <a:endParaRPr lang="en-US" sz="3000" b="1" u="none" strike="noStrike">
              <a:solidFill>
                <a:srgbClr val="0F7F6A"/>
              </a:solidFill>
              <a:effectLst/>
              <a:uFillTx/>
              <a:latin typeface="Calibri"/>
            </a:endParaRPr>
          </a:p>
        </p:txBody>
      </p:sp>
      <p:pic>
        <p:nvPicPr>
          <p:cNvPr id="273" name=""/>
          <p:cNvPicPr/>
          <p:nvPr/>
        </p:nvPicPr>
        <p:blipFill>
          <a:blip r:embed="rId10"/>
          <a:stretch/>
        </p:blipFill>
        <p:spPr>
          <a:xfrm>
            <a:off x="914400" y="3657600"/>
            <a:ext cx="7543800" cy="11404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7F6A"/>
                </a:solidFill>
                <a:effectLst/>
                <a:uFillTx/>
                <a:latin typeface="Calibri"/>
                <a:ea typeface="Calibri"/>
              </a:rPr>
              <a:t>Kontribusi Tim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Kontribusi Coder 1"/>
          <p:cNvSpPr/>
          <p:nvPr/>
        </p:nvSpPr>
        <p:spPr>
          <a:xfrm>
            <a:off x="457200" y="1097280"/>
            <a:ext cx="507456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"/>
          <p:cNvSpPr/>
          <p:nvPr/>
        </p:nvSpPr>
        <p:spPr>
          <a:xfrm>
            <a:off x="567000" y="1188720"/>
            <a:ext cx="639720" cy="63972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Image 0" descr="preencoded.png"/>
          <p:cNvPicPr/>
          <p:nvPr/>
        </p:nvPicPr>
        <p:blipFill>
          <a:blip r:embed="rId1"/>
          <a:stretch/>
        </p:blipFill>
        <p:spPr>
          <a:xfrm>
            <a:off x="749880" y="13532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 3"/>
          <p:cNvSpPr/>
          <p:nvPr/>
        </p:nvSpPr>
        <p:spPr>
          <a:xfrm>
            <a:off x="1280160" y="118872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Coder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4"/>
          <p:cNvSpPr/>
          <p:nvPr/>
        </p:nvSpPr>
        <p:spPr>
          <a:xfrm>
            <a:off x="1280160" y="150876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4A085"/>
                </a:solidFill>
                <a:effectLst/>
                <a:uFillTx/>
                <a:latin typeface="Calibri"/>
                <a:ea typeface="Calibri"/>
              </a:rPr>
              <a:t>5 branch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5"/>
          <p:cNvSpPr/>
          <p:nvPr/>
        </p:nvSpPr>
        <p:spPr>
          <a:xfrm>
            <a:off x="2468880" y="117036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2468880" y="117036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feature/homepage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7"/>
          <p:cNvSpPr/>
          <p:nvPr/>
        </p:nvSpPr>
        <p:spPr>
          <a:xfrm>
            <a:off x="4023360" y="117036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8"/>
          <p:cNvSpPr/>
          <p:nvPr/>
        </p:nvSpPr>
        <p:spPr>
          <a:xfrm>
            <a:off x="4023360" y="117036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feature/about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9"/>
          <p:cNvSpPr/>
          <p:nvPr/>
        </p:nvSpPr>
        <p:spPr>
          <a:xfrm>
            <a:off x="2468880" y="142632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0"/>
          <p:cNvSpPr/>
          <p:nvPr/>
        </p:nvSpPr>
        <p:spPr>
          <a:xfrm>
            <a:off x="2468880" y="142632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feature/courses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1"/>
          <p:cNvSpPr/>
          <p:nvPr/>
        </p:nvSpPr>
        <p:spPr>
          <a:xfrm>
            <a:off x="4023360" y="142632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2"/>
          <p:cNvSpPr/>
          <p:nvPr/>
        </p:nvSpPr>
        <p:spPr>
          <a:xfrm>
            <a:off x="4023360" y="142632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feature/gallery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3"/>
          <p:cNvSpPr/>
          <p:nvPr/>
        </p:nvSpPr>
        <p:spPr>
          <a:xfrm>
            <a:off x="2468880" y="168264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14A085"/>
          </a:solidFill>
          <a:ln w="12700">
            <a:solidFill>
              <a:srgbClr val="14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4"/>
          <p:cNvSpPr/>
          <p:nvPr/>
        </p:nvSpPr>
        <p:spPr>
          <a:xfrm>
            <a:off x="2468880" y="168264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feature/pricing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Kontribusi Coder 2"/>
          <p:cNvSpPr/>
          <p:nvPr/>
        </p:nvSpPr>
        <p:spPr>
          <a:xfrm>
            <a:off x="457200" y="2011680"/>
            <a:ext cx="507456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6"/>
          <p:cNvSpPr/>
          <p:nvPr/>
        </p:nvSpPr>
        <p:spPr>
          <a:xfrm>
            <a:off x="567000" y="2103120"/>
            <a:ext cx="639720" cy="63972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 1" descr="preencoded.png"/>
          <p:cNvPicPr/>
          <p:nvPr/>
        </p:nvPicPr>
        <p:blipFill>
          <a:blip r:embed="rId2"/>
          <a:stretch/>
        </p:blipFill>
        <p:spPr>
          <a:xfrm>
            <a:off x="749880" y="22676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 17"/>
          <p:cNvSpPr/>
          <p:nvPr/>
        </p:nvSpPr>
        <p:spPr>
          <a:xfrm>
            <a:off x="1280160" y="210312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Coder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8"/>
          <p:cNvSpPr/>
          <p:nvPr/>
        </p:nvSpPr>
        <p:spPr>
          <a:xfrm>
            <a:off x="1280160" y="242316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FA4E7"/>
                </a:solidFill>
                <a:effectLst/>
                <a:uFillTx/>
                <a:latin typeface="Calibri"/>
                <a:ea typeface="Calibri"/>
              </a:rPr>
              <a:t>4 branch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9"/>
          <p:cNvSpPr/>
          <p:nvPr/>
        </p:nvSpPr>
        <p:spPr>
          <a:xfrm>
            <a:off x="2468880" y="208476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2FA4E7"/>
          </a:solidFill>
          <a:ln w="12700">
            <a:solidFill>
              <a:srgbClr val="2FA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0"/>
          <p:cNvSpPr/>
          <p:nvPr/>
        </p:nvSpPr>
        <p:spPr>
          <a:xfrm>
            <a:off x="2468880" y="208476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feature/navbar-footer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1"/>
          <p:cNvSpPr/>
          <p:nvPr/>
        </p:nvSpPr>
        <p:spPr>
          <a:xfrm>
            <a:off x="4023360" y="208476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2FA4E7"/>
          </a:solidFill>
          <a:ln w="12700">
            <a:solidFill>
              <a:srgbClr val="2FA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2"/>
          <p:cNvSpPr/>
          <p:nvPr/>
        </p:nvSpPr>
        <p:spPr>
          <a:xfrm>
            <a:off x="4023360" y="208476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feature/contact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3"/>
          <p:cNvSpPr/>
          <p:nvPr/>
        </p:nvSpPr>
        <p:spPr>
          <a:xfrm>
            <a:off x="2468880" y="234072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2FA4E7"/>
          </a:solidFill>
          <a:ln w="12700">
            <a:solidFill>
              <a:srgbClr val="2FA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4"/>
          <p:cNvSpPr/>
          <p:nvPr/>
        </p:nvSpPr>
        <p:spPr>
          <a:xfrm>
            <a:off x="2468880" y="234072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feature/posts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5"/>
          <p:cNvSpPr/>
          <p:nvPr/>
        </p:nvSpPr>
        <p:spPr>
          <a:xfrm>
            <a:off x="4023360" y="234072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2FA4E7"/>
          </a:solidFill>
          <a:ln w="12700">
            <a:solidFill>
              <a:srgbClr val="2FA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6"/>
          <p:cNvSpPr/>
          <p:nvPr/>
        </p:nvSpPr>
        <p:spPr>
          <a:xfrm>
            <a:off x="4023360" y="234072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feature/news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Kontribusi Reviewer"/>
          <p:cNvSpPr/>
          <p:nvPr/>
        </p:nvSpPr>
        <p:spPr>
          <a:xfrm>
            <a:off x="457200" y="2926080"/>
            <a:ext cx="507456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8"/>
          <p:cNvSpPr/>
          <p:nvPr/>
        </p:nvSpPr>
        <p:spPr>
          <a:xfrm>
            <a:off x="567000" y="3017520"/>
            <a:ext cx="639720" cy="639720"/>
          </a:xfrm>
          <a:prstGeom prst="ellipse">
            <a:avLst/>
          </a:prstGeom>
          <a:solidFill>
            <a:srgbClr val="D867B2"/>
          </a:solidFill>
          <a:ln w="12700">
            <a:solidFill>
              <a:srgbClr val="D867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5" name="Image 2" descr="preencoded.png"/>
          <p:cNvPicPr/>
          <p:nvPr/>
        </p:nvPicPr>
        <p:blipFill>
          <a:blip r:embed="rId3"/>
          <a:stretch/>
        </p:blipFill>
        <p:spPr>
          <a:xfrm>
            <a:off x="749880" y="31820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Text 29"/>
          <p:cNvSpPr/>
          <p:nvPr/>
        </p:nvSpPr>
        <p:spPr>
          <a:xfrm>
            <a:off x="1280160" y="301752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Reviewer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0"/>
          <p:cNvSpPr/>
          <p:nvPr/>
        </p:nvSpPr>
        <p:spPr>
          <a:xfrm>
            <a:off x="1280160" y="333756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867B2"/>
                </a:solidFill>
                <a:effectLst/>
                <a:uFillTx/>
                <a:latin typeface="Calibri"/>
                <a:ea typeface="Calibri"/>
              </a:rPr>
              <a:t>Review PR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1"/>
          <p:cNvSpPr/>
          <p:nvPr/>
        </p:nvSpPr>
        <p:spPr>
          <a:xfrm>
            <a:off x="2468880" y="299916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D867B2"/>
          </a:solidFill>
          <a:ln w="12700">
            <a:solidFill>
              <a:srgbClr val="D867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2"/>
          <p:cNvSpPr/>
          <p:nvPr/>
        </p:nvSpPr>
        <p:spPr>
          <a:xfrm>
            <a:off x="2468880" y="299916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Komentar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33"/>
          <p:cNvSpPr/>
          <p:nvPr/>
        </p:nvSpPr>
        <p:spPr>
          <a:xfrm>
            <a:off x="4023360" y="299916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D867B2"/>
          </a:solidFill>
          <a:ln w="12700">
            <a:solidFill>
              <a:srgbClr val="D867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4"/>
          <p:cNvSpPr/>
          <p:nvPr/>
        </p:nvSpPr>
        <p:spPr>
          <a:xfrm>
            <a:off x="4023360" y="299916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Minta perbaikan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35"/>
          <p:cNvSpPr/>
          <p:nvPr/>
        </p:nvSpPr>
        <p:spPr>
          <a:xfrm>
            <a:off x="2468880" y="325512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D867B2"/>
          </a:solidFill>
          <a:ln w="12700">
            <a:solidFill>
              <a:srgbClr val="D867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6"/>
          <p:cNvSpPr/>
          <p:nvPr/>
        </p:nvSpPr>
        <p:spPr>
          <a:xfrm>
            <a:off x="2468880" y="325512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Approve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Kontribusi Dokumentator"/>
          <p:cNvSpPr/>
          <p:nvPr/>
        </p:nvSpPr>
        <p:spPr>
          <a:xfrm>
            <a:off x="457200" y="3840480"/>
            <a:ext cx="507456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8"/>
          <p:cNvSpPr/>
          <p:nvPr/>
        </p:nvSpPr>
        <p:spPr>
          <a:xfrm>
            <a:off x="567000" y="3931920"/>
            <a:ext cx="639720" cy="639720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 3" descr="preencoded.png"/>
          <p:cNvPicPr/>
          <p:nvPr/>
        </p:nvPicPr>
        <p:blipFill>
          <a:blip r:embed="rId4"/>
          <a:stretch/>
        </p:blipFill>
        <p:spPr>
          <a:xfrm>
            <a:off x="749880" y="40964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Text 39"/>
          <p:cNvSpPr/>
          <p:nvPr/>
        </p:nvSpPr>
        <p:spPr>
          <a:xfrm>
            <a:off x="1280160" y="393192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Dokumentator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40"/>
          <p:cNvSpPr/>
          <p:nvPr/>
        </p:nvSpPr>
        <p:spPr>
          <a:xfrm>
            <a:off x="1280160" y="425196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9573F"/>
                </a:solidFill>
                <a:effectLst/>
                <a:uFillTx/>
                <a:latin typeface="Calibri"/>
                <a:ea typeface="Calibri"/>
              </a:rPr>
              <a:t>1 branch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41"/>
          <p:cNvSpPr/>
          <p:nvPr/>
        </p:nvSpPr>
        <p:spPr>
          <a:xfrm>
            <a:off x="2468880" y="391356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E9573F"/>
          </a:solidFill>
          <a:ln w="12700">
            <a:solidFill>
              <a:srgbClr val="E95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42"/>
          <p:cNvSpPr/>
          <p:nvPr/>
        </p:nvSpPr>
        <p:spPr>
          <a:xfrm>
            <a:off x="2468880" y="391356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docs/readme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43"/>
          <p:cNvSpPr/>
          <p:nvPr/>
        </p:nvSpPr>
        <p:spPr>
          <a:xfrm>
            <a:off x="4023360" y="3913560"/>
            <a:ext cx="1481040" cy="228240"/>
          </a:xfrm>
          <a:prstGeom prst="roundRect">
            <a:avLst>
              <a:gd name="adj" fmla="val 56000"/>
            </a:avLst>
          </a:prstGeom>
          <a:solidFill>
            <a:srgbClr val="E9573F"/>
          </a:solidFill>
          <a:ln w="12700">
            <a:solidFill>
              <a:srgbClr val="E95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4"/>
          <p:cNvSpPr/>
          <p:nvPr/>
        </p:nvSpPr>
        <p:spPr>
          <a:xfrm>
            <a:off x="4023360" y="391356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PPTX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Image 4" descr="preencoded.png"/>
          <p:cNvPicPr/>
          <p:nvPr/>
        </p:nvPicPr>
        <p:blipFill>
          <a:blip r:embed="rId5"/>
          <a:stretch/>
        </p:blipFill>
        <p:spPr>
          <a:xfrm>
            <a:off x="6995160" y="2202840"/>
            <a:ext cx="4568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Text 46"/>
          <p:cNvSpPr/>
          <p:nvPr/>
        </p:nvSpPr>
        <p:spPr>
          <a:xfrm>
            <a:off x="5897880" y="2705760"/>
            <a:ext cx="2651400" cy="186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7F6A"/>
                </a:solidFill>
                <a:effectLst/>
                <a:uFillTx/>
                <a:latin typeface="Calibri"/>
                <a:ea typeface="Calibri"/>
              </a:rPr>
              <a:t>SCREENSHOT: </a:t>
            </a: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Pull Request di GitHub — komentar Reviewer + tombol Approve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</a:pPr>
            <a:endParaRPr lang="en-US" sz="3000" b="1" u="none" strike="noStrike">
              <a:solidFill>
                <a:srgbClr val="0F7F6A"/>
              </a:solidFill>
              <a:effectLst/>
              <a:uFillTx/>
              <a:latin typeface="Calibri"/>
            </a:endParaRPr>
          </a:p>
        </p:txBody>
      </p:sp>
      <p:pic>
        <p:nvPicPr>
          <p:cNvPr id="326" name=""/>
          <p:cNvPicPr/>
          <p:nvPr/>
        </p:nvPicPr>
        <p:blipFill>
          <a:blip r:embed="rId6"/>
          <a:stretch/>
        </p:blipFill>
        <p:spPr>
          <a:xfrm>
            <a:off x="5685120" y="1143000"/>
            <a:ext cx="3342240" cy="32004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7F6A"/>
                </a:solidFill>
                <a:effectLst/>
                <a:uFillTx/>
                <a:latin typeface="Calibri"/>
                <a:ea typeface="Calibri"/>
              </a:rPr>
              <a:t>Tampilan Website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" name="Image 0" descr="preencoded.png"/>
          <p:cNvPicPr/>
          <p:nvPr/>
        </p:nvPicPr>
        <p:blipFill>
          <a:blip r:embed="rId1"/>
          <a:stretch/>
        </p:blipFill>
        <p:spPr>
          <a:xfrm>
            <a:off x="2697480" y="2202840"/>
            <a:ext cx="4568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Text 2"/>
          <p:cNvSpPr/>
          <p:nvPr/>
        </p:nvSpPr>
        <p:spPr>
          <a:xfrm>
            <a:off x="594360" y="2705760"/>
            <a:ext cx="4663080" cy="186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7F6A"/>
                </a:solidFill>
                <a:effectLst/>
                <a:uFillTx/>
                <a:latin typeface="Calibri"/>
                <a:ea typeface="Calibri"/>
              </a:rPr>
              <a:t>SCREENSHOT: </a:t>
            </a: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Halaman Beranda (index.html) — tampilkan slider + bagian "Kursus Unggulan Kami", lebar layar penuh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0" name="Image 1" descr="preencoded.png"/>
          <p:cNvPicPr/>
          <p:nvPr/>
        </p:nvPicPr>
        <p:blipFill>
          <a:blip r:embed="rId2"/>
          <a:stretch/>
        </p:blipFill>
        <p:spPr>
          <a:xfrm>
            <a:off x="6921000" y="1232640"/>
            <a:ext cx="422640" cy="38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Text 4"/>
          <p:cNvSpPr/>
          <p:nvPr/>
        </p:nvSpPr>
        <p:spPr>
          <a:xfrm>
            <a:off x="5715000" y="1701360"/>
            <a:ext cx="2834280" cy="99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7F6A"/>
                </a:solidFill>
                <a:effectLst/>
                <a:uFillTx/>
                <a:latin typeface="Calibri"/>
                <a:ea typeface="Calibri"/>
              </a:rPr>
              <a:t>SCREENSHOT: </a:t>
            </a: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Halaman Harga — 4 kartu paket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Image 2" descr="preencoded.png"/>
          <p:cNvPicPr/>
          <p:nvPr/>
        </p:nvPicPr>
        <p:blipFill>
          <a:blip r:embed="rId3"/>
          <a:stretch/>
        </p:blipFill>
        <p:spPr>
          <a:xfrm>
            <a:off x="6921000" y="3107160"/>
            <a:ext cx="422640" cy="38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Text 6"/>
          <p:cNvSpPr/>
          <p:nvPr/>
        </p:nvSpPr>
        <p:spPr>
          <a:xfrm>
            <a:off x="5715000" y="3575880"/>
            <a:ext cx="2834280" cy="99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7F6A"/>
                </a:solidFill>
                <a:effectLst/>
                <a:uFillTx/>
                <a:latin typeface="Calibri"/>
                <a:ea typeface="Calibri"/>
              </a:rPr>
              <a:t>SCREENSHOT: </a:t>
            </a: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Tampilan mobile (lebr 375px)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</a:pPr>
            <a:endParaRPr lang="en-US" sz="3000" b="1" u="none" strike="noStrike">
              <a:solidFill>
                <a:srgbClr val="0F7F6A"/>
              </a:solidFill>
              <a:effectLst/>
              <a:uFillTx/>
              <a:latin typeface="Calibri"/>
            </a:endParaRPr>
          </a:p>
        </p:txBody>
      </p:sp>
      <p:pic>
        <p:nvPicPr>
          <p:cNvPr id="335" name=""/>
          <p:cNvPicPr/>
          <p:nvPr/>
        </p:nvPicPr>
        <p:blipFill>
          <a:blip r:embed="rId4"/>
          <a:stretch/>
        </p:blipFill>
        <p:spPr>
          <a:xfrm>
            <a:off x="457200" y="1143000"/>
            <a:ext cx="4949280" cy="278388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336" name=""/>
          <p:cNvPicPr/>
          <p:nvPr/>
        </p:nvPicPr>
        <p:blipFill>
          <a:blip r:embed="rId5"/>
          <a:stretch/>
        </p:blipFill>
        <p:spPr>
          <a:xfrm>
            <a:off x="5715000" y="1137960"/>
            <a:ext cx="2971800" cy="36626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Image 0" descr="/home/boraya/01.Personal/02.Boraya/05.Code/JendEdu/img/slides/2.jpg"/>
          <p:cNvPicPr/>
          <p:nvPr/>
        </p:nvPicPr>
        <p:blipFill>
          <a:blip r:embed="rId1"/>
          <a:stretch/>
        </p:blipFill>
        <p:spPr>
          <a:xfrm>
            <a:off x="0" y="3383280"/>
            <a:ext cx="9143640" cy="176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Shape 0"/>
          <p:cNvSpPr/>
          <p:nvPr/>
        </p:nvSpPr>
        <p:spPr>
          <a:xfrm>
            <a:off x="0" y="3383280"/>
            <a:ext cx="9143640" cy="1760040"/>
          </a:xfrm>
          <a:prstGeom prst="rect">
            <a:avLst/>
          </a:prstGeom>
          <a:solidFill>
            <a:srgbClr val="0F7F6A">
              <a:alpha val="65000"/>
            </a:srgbClr>
          </a:solidFill>
          <a:ln w="12700">
            <a:solidFill>
              <a:srgbClr val="0F7F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"/>
          <p:cNvSpPr/>
          <p:nvPr/>
        </p:nvSpPr>
        <p:spPr>
          <a:xfrm>
            <a:off x="3749040" y="411480"/>
            <a:ext cx="1645560" cy="6397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0" name="Image 1" descr="/home/boraya/01.Personal/02.Boraya/05.Code/JendEdu/img/logo.png"/>
          <p:cNvPicPr/>
          <p:nvPr/>
        </p:nvPicPr>
        <p:blipFill>
          <a:blip r:embed="rId2"/>
          <a:stretch/>
        </p:blipFill>
        <p:spPr>
          <a:xfrm>
            <a:off x="3886200" y="521280"/>
            <a:ext cx="137124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Text 2"/>
          <p:cNvSpPr/>
          <p:nvPr/>
        </p:nvSpPr>
        <p:spPr>
          <a:xfrm>
            <a:off x="457200" y="11887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Terima Kasih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3200400" y="2286000"/>
            <a:ext cx="2742840" cy="639720"/>
          </a:xfrm>
          <a:prstGeom prst="roundRect">
            <a:avLst>
              <a:gd name="adj" fmla="val 50000"/>
            </a:avLst>
          </a:prstGeom>
          <a:solidFill>
            <a:srgbClr val="61B331"/>
          </a:solidFill>
          <a:ln w="12700">
            <a:solidFill>
              <a:srgbClr val="61B3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"/>
          <p:cNvSpPr/>
          <p:nvPr/>
        </p:nvSpPr>
        <p:spPr>
          <a:xfrm>
            <a:off x="3200400" y="22860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Tanya Jawab (Q&amp;A)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5"/>
          <p:cNvSpPr/>
          <p:nvPr/>
        </p:nvSpPr>
        <p:spPr>
          <a:xfrm>
            <a:off x="2377440" y="3703320"/>
            <a:ext cx="4388760" cy="6397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5" name="Image 2" descr="preencoded.png"/>
          <p:cNvPicPr/>
          <p:nvPr/>
        </p:nvPicPr>
        <p:blipFill>
          <a:blip r:embed="rId3"/>
          <a:stretch/>
        </p:blipFill>
        <p:spPr>
          <a:xfrm>
            <a:off x="2606040" y="38404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Text 6"/>
          <p:cNvSpPr/>
          <p:nvPr/>
        </p:nvSpPr>
        <p:spPr>
          <a:xfrm>
            <a:off x="3108960" y="3703320"/>
            <a:ext cx="3565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github.com/Borayaa/JendEdu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</a:pPr>
            <a:endParaRPr lang="en-US" sz="3000" b="1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JendEdu">
  <a:themeElements>
    <a:clrScheme name="JendEdu">
      <a:dk1>
        <a:srgbClr val="333333"/>
      </a:dk1>
      <a:lt1>
        <a:srgbClr val="FFFFFF"/>
      </a:lt1>
      <a:dk2>
        <a:srgbClr val="11967C"/>
      </a:dk2>
      <a:lt2>
        <a:srgbClr val="EFEFEF"/>
      </a:lt2>
      <a:accent1>
        <a:srgbClr val="14A085"/>
      </a:accent1>
      <a:accent2>
        <a:srgbClr val="61B331"/>
      </a:accent2>
      <a:accent3>
        <a:srgbClr val="E9573F"/>
      </a:accent3>
      <a:accent4>
        <a:srgbClr val="D867B2"/>
      </a:accent4>
      <a:accent5>
        <a:srgbClr val="2FA4E7"/>
      </a:accent5>
      <a:accent6>
        <a:srgbClr val="11967C"/>
      </a:accent6>
      <a:hlink>
        <a:srgbClr val="2FA4E7"/>
      </a:hlink>
      <a:folHlink>
        <a:srgbClr val="D867B2"/>
      </a:folHlink>
    </a:clrScheme>
    <a:fontScheme name="JendEdu">
      <a:majorFont>
        <a:latin typeface="Calibri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LibreOffice/26.8.1.1$Linux_X86_64 LibreOffice_project/680$Build-1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2026-10-20T20:21:00Z</dcterms:created>
  <dc:creator>Tim JendEdu</dc:creator>
  <dc:description/>
  <dc:language>en-US</dc:language>
  <cp:lastModifiedBy/>
  <dcterms:modified xsi:type="dcterms:W3CDTF">2026-10-31T21:18:41Z</dcterms:modified>
  <cp:revision>2</cp:revision>
  <dc:subject>PptxGenJS Presentation</dc:subject>
  <dc:title>JendEdu - Presentasi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